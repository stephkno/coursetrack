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Roboto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Roboto-bold.fntdata"/><Relationship Id="rId12" Type="http://schemas.openxmlformats.org/officeDocument/2006/relationships/font" Target="fonts/Roboto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-boldItalic.fntdata"/><Relationship Id="rId14" Type="http://schemas.openxmlformats.org/officeDocument/2006/relationships/font" Target="fonts/Robo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c931eb79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ac931eb79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ac931eb790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ac931eb790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ac931eb790_8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ac931eb790_8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ac931eb790_0_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ac931eb790_0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c931eb790_0_2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ac931eb790_0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c931eb790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ac931eb790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p11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reate a Title Slide that says CourseTrack and its a College Enrollment System" id="85" name="Google Shape;8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5" y="20061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Threaded Client-Server Pattern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311700" y="1229875"/>
            <a:ext cx="42603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Our system uses a multithreaded socket server and a GUI client application.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The server handles multiple socket connections simultaneously using ServerConnection objects.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The client sends Message requests to interact with the server.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3788850" y="1439750"/>
            <a:ext cx="5531400" cy="232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6A9955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Socket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socket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serverSocket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accept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b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ServerConnection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newConnection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ServerConnection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(socket)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Thread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(newConnection).</a:t>
            </a:r>
            <a:r>
              <a:rPr lang="en"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start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Message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?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message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Message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5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?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objectInputStream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readObject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server.handleMessage(message);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Implementation Overview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8" name="Google Shape;98;p15"/>
          <p:cNvSpPr txBox="1"/>
          <p:nvPr>
            <p:ph idx="1" type="body"/>
          </p:nvPr>
        </p:nvSpPr>
        <p:spPr>
          <a:xfrm>
            <a:off x="311700" y="1229875"/>
            <a:ext cx="42603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All communication uses serialized Message objects.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The ServerController is a singleton and facade class which handles all incoming requests.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4437925" y="2362100"/>
            <a:ext cx="5271600" cy="19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ServerController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8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850">
                <a:solidFill>
                  <a:srgbClr val="6A9955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// singleton</a:t>
            </a:r>
            <a:endParaRPr sz="850">
              <a:solidFill>
                <a:srgbClr val="6A9955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8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private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ServerController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 {}</a:t>
            </a:r>
            <a:endParaRPr sz="8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8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static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ServerController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instance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5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ServerController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8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8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static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ServerController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8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() {</a:t>
            </a:r>
            <a:endParaRPr sz="8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85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instance;</a:t>
            </a:r>
            <a:endParaRPr sz="8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8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0" name="Google Shape;100;p15"/>
          <p:cNvSpPr txBox="1"/>
          <p:nvPr/>
        </p:nvSpPr>
        <p:spPr>
          <a:xfrm>
            <a:off x="4466175" y="910950"/>
            <a:ext cx="5976000" cy="99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7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&lt;</a:t>
            </a:r>
            <a:r>
              <a:rPr lang="en" sz="7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TObjMessage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7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7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Serializable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" sz="7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7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sendMessage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7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MessageType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7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type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endParaRPr sz="7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45720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MessageStatus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7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status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7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TObjMessage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7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obj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7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" sz="7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Send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75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7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Message</a:t>
            </a: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&lt;&gt;(type, status, obj));</a:t>
            </a:r>
            <a:endParaRPr sz="7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7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311700" y="402875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TObjMessage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6" name="Google Shape;106;p16"/>
          <p:cNvSpPr txBox="1"/>
          <p:nvPr>
            <p:ph idx="1" type="body"/>
          </p:nvPr>
        </p:nvSpPr>
        <p:spPr>
          <a:xfrm>
            <a:off x="311700" y="1229875"/>
            <a:ext cx="44334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Message class which uses a generic TObjMessage to send formatted data requests.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TObjMessage’s must implement Serializable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Each request and response </a:t>
            </a: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implemented</a:t>
            </a: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 as a record class with </a:t>
            </a: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parameters specific to each request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5662950" y="1724975"/>
            <a:ext cx="3000000" cy="12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record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RegisterRequest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  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username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password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UserType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type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implements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Serializable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{ }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8" name="Google Shape;108;p16"/>
          <p:cNvSpPr txBox="1"/>
          <p:nvPr/>
        </p:nvSpPr>
        <p:spPr>
          <a:xfrm>
            <a:off x="4086025" y="1085075"/>
            <a:ext cx="5413800" cy="5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final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Message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TObjMessage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569CD6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extends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Serializable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9" name="Google Shape;109;p16"/>
          <p:cNvSpPr txBox="1"/>
          <p:nvPr/>
        </p:nvSpPr>
        <p:spPr>
          <a:xfrm>
            <a:off x="3472550" y="3336600"/>
            <a:ext cx="5624700" cy="14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// send a request to the server</a:t>
            </a:r>
            <a:endParaRPr sz="1050">
              <a:solidFill>
                <a:srgbClr val="9CDCFE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sendRequest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Message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RegisterRequest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&gt;(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MessageType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USER_REGISTER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MessageStatus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REQUEST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RegisterRequest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(username, password, type) ));</a:t>
            </a:r>
            <a:endParaRPr sz="1050">
              <a:solidFill>
                <a:srgbClr val="D4D4D4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Custom Data Structures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5" name="Google Shape;115;p17"/>
          <p:cNvSpPr txBox="1"/>
          <p:nvPr>
            <p:ph idx="1" type="body"/>
          </p:nvPr>
        </p:nvSpPr>
        <p:spPr>
          <a:xfrm>
            <a:off x="311700" y="1229875"/>
            <a:ext cx="42603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We implemented custom containers for storing server data.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LinkedList&lt;T&gt; and HashMap&lt;K,V&gt;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We stored Campuses and Departments by String id in a HashMap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LinkedList and HashMap are also serializable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6" name="Google Shape;116;p17"/>
          <p:cNvSpPr txBox="1"/>
          <p:nvPr/>
        </p:nvSpPr>
        <p:spPr>
          <a:xfrm>
            <a:off x="4212175" y="727500"/>
            <a:ext cx="5432700" cy="319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H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ashMap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Campus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campuses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HashMap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&lt;&gt;();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6A9955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campuses.Put(“Key”, new Campus(“Value”));</a:t>
            </a:r>
            <a:endParaRPr sz="1050">
              <a:solidFill>
                <a:srgbClr val="6A9955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campuses.Get(“Key”);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campuses.Remove(“Key”);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LinkedList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Student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students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LinkedList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&lt;&gt;();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Student student = New Student();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students.Push(student);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students.Get(0);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students.Contains(student);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students.Remove(student);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Server Data Classes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8"/>
          <p:cNvSpPr txBox="1"/>
          <p:nvPr>
            <p:ph idx="1" type="body"/>
          </p:nvPr>
        </p:nvSpPr>
        <p:spPr>
          <a:xfrm>
            <a:off x="311700" y="1229875"/>
            <a:ext cx="42603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Server data classes have static containers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Have ownership of their instances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Create and manage instances internally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Allow static access to data by string key or id.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3" name="Google Shape;123;p18"/>
          <p:cNvSpPr txBox="1"/>
          <p:nvPr/>
        </p:nvSpPr>
        <p:spPr>
          <a:xfrm>
            <a:off x="5207025" y="1707425"/>
            <a:ext cx="3859500" cy="210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String campusName = “CSU East Bay”;</a:t>
            </a:r>
            <a:endParaRPr sz="1050">
              <a:solidFill>
                <a:srgbClr val="4EC9B0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Campus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campus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50">
                <a:solidFill>
                  <a:srgbClr val="D4D4D4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= 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ampus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add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(campusName);</a:t>
            </a:r>
            <a:endParaRPr sz="1050">
              <a:solidFill>
                <a:srgbClr val="6A9955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6A9955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Campus campus = </a:t>
            </a:r>
            <a:r>
              <a:rPr lang="en" sz="1050">
                <a:solidFill>
                  <a:srgbClr val="6A9955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Campus.get(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campusName</a:t>
            </a:r>
            <a:r>
              <a:rPr lang="en" sz="1050">
                <a:solidFill>
                  <a:srgbClr val="6A9955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50">
              <a:solidFill>
                <a:srgbClr val="6A9955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6A9955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586C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50">
                <a:solidFill>
                  <a:srgbClr val="9CDCFE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Campus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exists</a:t>
            </a: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(campusName)) {}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campus.AddCourse();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CCCCCC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</a:t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6A9955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